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72" r:id="rId3"/>
    <p:sldId id="336" r:id="rId4"/>
    <p:sldId id="310" r:id="rId5"/>
    <p:sldId id="311" r:id="rId6"/>
    <p:sldId id="312" r:id="rId7"/>
    <p:sldId id="296" r:id="rId8"/>
    <p:sldId id="313" r:id="rId9"/>
    <p:sldId id="314" r:id="rId10"/>
    <p:sldId id="315" r:id="rId11"/>
    <p:sldId id="316" r:id="rId12"/>
    <p:sldId id="301" r:id="rId13"/>
    <p:sldId id="275" r:id="rId14"/>
    <p:sldId id="337" r:id="rId15"/>
    <p:sldId id="299" r:id="rId16"/>
    <p:sldId id="303" r:id="rId17"/>
    <p:sldId id="286" r:id="rId18"/>
    <p:sldId id="292" r:id="rId19"/>
    <p:sldId id="304" r:id="rId20"/>
    <p:sldId id="284" r:id="rId21"/>
    <p:sldId id="28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Deep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53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Convolutional Neural Networks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Generative Adversarial Network</a:t>
            </a:r>
          </a:p>
        </p:txBody>
      </p:sp>
    </p:spTree>
    <p:extLst>
      <p:ext uri="{BB962C8B-B14F-4D97-AF65-F5344CB8AC3E}">
        <p14:creationId xmlns:p14="http://schemas.microsoft.com/office/powerpoint/2010/main" val="4187209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8468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 convolutional neural network can have tens or hundreds of layers that each learn to detect different features of an image.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Filters are applied to each training image at different resolutions, and the output of each convolved image is used as the input to the next layer.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The filters can start as very simple features, such as brightness and edges, and increase in complexity to features that uniquely define the object.</a:t>
            </a:r>
            <a:endParaRPr lang="en-US" sz="22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35410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0292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Methodology: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It consists of layers that perform convolution operations, where small filters or kernels slide over the input data (like an image) to detect local patterns such as edges, textures, and shapes.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These convolutional layers are followed by pooling layers that </a:t>
            </a:r>
            <a:r>
              <a:rPr lang="en-US" sz="2000" dirty="0" err="1"/>
              <a:t>downsample</a:t>
            </a:r>
            <a:r>
              <a:rPr lang="en-US" sz="2000" dirty="0"/>
              <a:t> the feature maps, reducing their dimensionality and computational complexity while retaining the most important features.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After several convolution and pooling layers, the network typically includes fully connected layers to make final predictions or classifications.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464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182618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Convolution in 2D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61199D4-16A7-4D42-A147-5A6E1F16B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" y="1294606"/>
            <a:ext cx="7477125" cy="4886325"/>
          </a:xfrm>
        </p:spPr>
      </p:pic>
    </p:spTree>
    <p:extLst>
      <p:ext uri="{BB962C8B-B14F-4D97-AF65-F5344CB8AC3E}">
        <p14:creationId xmlns:p14="http://schemas.microsoft.com/office/powerpoint/2010/main" val="384281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182618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Activation Function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1DB03B-C756-4633-AA6E-BFF687EC1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524000"/>
            <a:ext cx="7391399" cy="4038600"/>
          </a:xfrm>
        </p:spPr>
      </p:pic>
    </p:spTree>
    <p:extLst>
      <p:ext uri="{BB962C8B-B14F-4D97-AF65-F5344CB8AC3E}">
        <p14:creationId xmlns:p14="http://schemas.microsoft.com/office/powerpoint/2010/main" val="3830985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182618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Max Pooling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BF041E-0CC8-4CF6-9F3C-EC5F9C385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05000"/>
            <a:ext cx="8686800" cy="3206663"/>
          </a:xfrm>
        </p:spPr>
      </p:pic>
    </p:spTree>
    <p:extLst>
      <p:ext uri="{BB962C8B-B14F-4D97-AF65-F5344CB8AC3E}">
        <p14:creationId xmlns:p14="http://schemas.microsoft.com/office/powerpoint/2010/main" val="1524828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50883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696CF14-28A4-45D0-A7FC-DDC6766D5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676400"/>
            <a:ext cx="73152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1473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do the neurons learn?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50883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DAA8DC-7AE4-48E8-9F51-B968E44CF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569983"/>
            <a:ext cx="82296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2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activation maps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50883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83396C-E832-496A-9911-43C504F1C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21" y="1552706"/>
            <a:ext cx="8229600" cy="477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59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50883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4E086-87FF-4209-B674-33EDFE611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52356"/>
            <a:ext cx="8305800" cy="439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84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Computational Complexity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50883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FB97FC-342F-4B4A-844D-861A2CD27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666874"/>
            <a:ext cx="54102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67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38995-88CE-4E74-8CD7-AA07C5C2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Key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982C8-1CA9-4D4E-846D-DF947452F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Image classification, object detection, facial recognition.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Convolutional layers apply filters to detect patterns.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Pooling layers reduce dimensionality.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Fully connected layers for final prediction.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ImageNet classification (e.g., </a:t>
            </a:r>
            <a:r>
              <a:rPr lang="en-IN" sz="2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AlexNet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822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Generative Adversarial Network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399"/>
            <a:ext cx="8229600" cy="50370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A generative adversarial network (GAN) is </a:t>
            </a:r>
            <a:r>
              <a:rPr lang="en-US" sz="2400" b="0" i="0" dirty="0">
                <a:solidFill>
                  <a:srgbClr val="040C28"/>
                </a:solidFill>
                <a:effectLst/>
                <a:latin typeface="Google Sans"/>
              </a:rPr>
              <a:t>a deep learning architecture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It trains two neural networks (discriminator and generator) to compete against each other to generate more authentic new data from a given training dataset.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202124"/>
                </a:solidFill>
                <a:latin typeface="Google Sans"/>
              </a:rPr>
              <a:t>During training, the generator improves its ability to create more convincing data, while the discriminator becomes better at identifying fake data. </a:t>
            </a:r>
          </a:p>
          <a:p>
            <a:pPr>
              <a:lnSpc>
                <a:spcPct val="150000"/>
              </a:lnSpc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84024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Generative Adversarial Network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399"/>
            <a:ext cx="8229600" cy="50370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202124"/>
                </a:solidFill>
                <a:latin typeface="Google Sans"/>
              </a:rPr>
              <a:t>This adversarial process continues until the generator produces data that is nearly indistinguishable from real data, and the discriminator is unable to tell the difference.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For instance, </a:t>
            </a:r>
            <a:r>
              <a:rPr lang="en-US" sz="2400" dirty="0">
                <a:solidFill>
                  <a:srgbClr val="202124"/>
                </a:solidFill>
                <a:latin typeface="Google Sans"/>
              </a:rPr>
              <a:t>we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 can generate new images from an existing image database or original music from a database of songs.</a:t>
            </a:r>
            <a:endParaRPr lang="en-US" sz="2400" dirty="0"/>
          </a:p>
          <a:p>
            <a:pPr>
              <a:lnSpc>
                <a:spcPct val="150000"/>
              </a:lnSpc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27232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Generative Adversarial Network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50883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9057EB-4B7F-4EA8-BF92-E14C15CDF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05" y="1361786"/>
            <a:ext cx="6867995" cy="434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15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F9EC-7172-4AA2-9C26-EC7BDD44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Key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B25F-80A6-4689-9A97-0A74732C2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What is a GAN?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A type of neural network architecture where two networks (Generator and Discriminator) compete against each other.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Image generation, style transfer, data augmentation.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Generator creates fake data.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Discriminator evaluates if the data is real or fake.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Both networks improve through adversarial training.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8727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2455" y="465083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DL Models for Various Problems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71599"/>
            <a:ext cx="8229600" cy="496088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Computer Vision – GANs and CNN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Natural Language Processing – BERT, Attention, Memory networks, RNN, LSTM, GRU and CNN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Adversary Attacks Detection – GAN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Object Detection – YOLO models</a:t>
            </a:r>
          </a:p>
        </p:txBody>
      </p:sp>
    </p:spTree>
    <p:extLst>
      <p:ext uri="{BB962C8B-B14F-4D97-AF65-F5344CB8AC3E}">
        <p14:creationId xmlns:p14="http://schemas.microsoft.com/office/powerpoint/2010/main" val="204557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2455" y="465083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DL Models for Various Problems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50883"/>
            <a:ext cx="8229600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Semantic Segmentation – Mask RCNN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Image Classification – CNNs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Sequence Problem Prediction – RNN, LSTM, GRU 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Linear Problems Modeling and Analysis – ANN</a:t>
            </a:r>
          </a:p>
        </p:txBody>
      </p:sp>
    </p:spTree>
    <p:extLst>
      <p:ext uri="{BB962C8B-B14F-4D97-AF65-F5344CB8AC3E}">
        <p14:creationId xmlns:p14="http://schemas.microsoft.com/office/powerpoint/2010/main" val="2281089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B31F-489F-49C4-A14E-AAB6C69B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Current research trends in DL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10E83-D373-4665-873E-5776E7E31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Fine-tuning pre-trained models for specific tasks.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Making deep learning models interpretable to humans (e.g., SHAP, LIME).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Self-Supervised Learning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Leveraging </a:t>
            </a:r>
            <a:r>
              <a:rPr lang="en-IN" sz="2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unlabeled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data to pre-train models.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AI Ethics and Bias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Addressing fairness and reducing bias in AI models.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Edge AI</a:t>
            </a:r>
            <a:r>
              <a:rPr lang="en-IN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Deploying deep learning models on edge devices (e.g., smartphones, IoT).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504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Future Directions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998BE5-1627-46B3-9B79-EB08C8C40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8310"/>
            <a:ext cx="8229600" cy="510540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Meta-Learning: Training approaches used for small-scale instances</a:t>
            </a:r>
          </a:p>
          <a:p>
            <a:pPr algn="just"/>
            <a:r>
              <a:rPr lang="en-US" sz="2400" dirty="0"/>
              <a:t>fault-tolerant deep learning models for small training data</a:t>
            </a:r>
          </a:p>
          <a:p>
            <a:pPr algn="just"/>
            <a:r>
              <a:rPr lang="en-US" sz="2400" dirty="0"/>
              <a:t>Deep learning model execution over mobile devices</a:t>
            </a:r>
          </a:p>
          <a:p>
            <a:pPr algn="just"/>
            <a:r>
              <a:rPr lang="en-US" sz="2400" dirty="0"/>
              <a:t>Use of DL in neuroscience</a:t>
            </a:r>
          </a:p>
          <a:p>
            <a:pPr algn="just"/>
            <a:r>
              <a:rPr lang="en-US" sz="2400" dirty="0"/>
              <a:t>Applications of deep learning in game theory</a:t>
            </a:r>
          </a:p>
          <a:p>
            <a:pPr algn="just"/>
            <a:r>
              <a:rPr lang="en-US" sz="2400" dirty="0"/>
              <a:t>Extracting complete information from partial information using DL</a:t>
            </a:r>
          </a:p>
          <a:p>
            <a:pPr algn="just"/>
            <a:r>
              <a:rPr lang="en-US" sz="2400" dirty="0"/>
              <a:t>Deep learning in quantum environment</a:t>
            </a:r>
          </a:p>
          <a:p>
            <a:pPr algn="just"/>
            <a:r>
              <a:rPr lang="en-US" sz="2400" dirty="0" err="1"/>
              <a:t>GenAI</a:t>
            </a:r>
            <a:r>
              <a:rPr lang="en-US" sz="2400" dirty="0"/>
              <a:t>, XAI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93623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998BE5-1627-46B3-9B79-EB08C8C40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Time-consuming process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Using small-scale data leads to overfitting issue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400" dirty="0"/>
              <a:t>Observation-based learning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Use large-scale data for processing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Training / Processing of large data is costly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400" dirty="0"/>
              <a:t>Hardware constraints and cost</a:t>
            </a:r>
          </a:p>
        </p:txBody>
      </p:sp>
    </p:spTree>
    <p:extLst>
      <p:ext uri="{BB962C8B-B14F-4D97-AF65-F5344CB8AC3E}">
        <p14:creationId xmlns:p14="http://schemas.microsoft.com/office/powerpoint/2010/main" val="1883226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665</Words>
  <Application>Microsoft Office PowerPoint</Application>
  <PresentationFormat>On-screen Show (4:3)</PresentationFormat>
  <Paragraphs>84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Google Sans</vt:lpstr>
      <vt:lpstr>Roboto</vt:lpstr>
      <vt:lpstr>Symbol</vt:lpstr>
      <vt:lpstr>Wingdings</vt:lpstr>
      <vt:lpstr>Office Theme</vt:lpstr>
      <vt:lpstr>Deep Learning Algorithms</vt:lpstr>
      <vt:lpstr>Convolutional Neural Networks</vt:lpstr>
      <vt:lpstr>Convolutional Neural Networks</vt:lpstr>
      <vt:lpstr>Convolution in 2D</vt:lpstr>
      <vt:lpstr>Activation Function</vt:lpstr>
      <vt:lpstr>Max Pooling</vt:lpstr>
      <vt:lpstr>Convolutional Neural Networks</vt:lpstr>
      <vt:lpstr>What do the neurons learn?</vt:lpstr>
      <vt:lpstr>Example activation maps</vt:lpstr>
      <vt:lpstr>Representation</vt:lpstr>
      <vt:lpstr>Computational Complexity</vt:lpstr>
      <vt:lpstr>Key Takeaways</vt:lpstr>
      <vt:lpstr>Generative Adversarial Network</vt:lpstr>
      <vt:lpstr>Generative Adversarial Network</vt:lpstr>
      <vt:lpstr>Generative Adversarial Network</vt:lpstr>
      <vt:lpstr>Key Takeaways</vt:lpstr>
      <vt:lpstr>DL Models for Various Problems</vt:lpstr>
      <vt:lpstr>DL Models for Various Problems</vt:lpstr>
      <vt:lpstr>Current research trends in DL</vt:lpstr>
      <vt:lpstr>Future Directions</vt:lpstr>
      <vt:lpstr>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Tanmoy</dc:creator>
  <cp:lastModifiedBy>ADMIN PC</cp:lastModifiedBy>
  <cp:revision>194</cp:revision>
  <dcterms:created xsi:type="dcterms:W3CDTF">2006-08-16T00:00:00Z</dcterms:created>
  <dcterms:modified xsi:type="dcterms:W3CDTF">2025-10-16T04:27:20Z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3CE9651E91B54364A1AF7D032A972C55</vt:lpwstr>
  </property>
  <property fmtid="{D5CDD505-2E9C-101B-9397-08002B2CF9AE}" pid="3" name="KSOProductBuildVer">
    <vt:lpwstr>1033-11.2.0.11254</vt:lpwstr>
  </property>
</Properties>
</file>